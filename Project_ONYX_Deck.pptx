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14400"/>
            <a:ext cx="1097280" cy="10972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2194560"/>
            <a:ext cx="1645920" cy="292608"/>
          </a:xfrm>
          <a:prstGeom prst="rect">
            <a:avLst>
              <a:gd name="adj" fmla="val 125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2194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FFFFF"/>
                </a:solidFill>
              </a:rPr>
              <a:t>PROJECT ONYX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02920" y="2606040"/>
            <a:ext cx="8321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Enterprise GRC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</a:rPr>
              <a:t>Intelligence Platform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02920" y="420624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E1CB"/>
                </a:solidFill>
              </a:rPr>
              <a:t>From infrastructure telemetry to board-ready risk intelligence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0" y="914400"/>
            <a:ext cx="960120" cy="82296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0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858000" y="132588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Architecture layers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955280" y="914400"/>
            <a:ext cx="960120" cy="82296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96012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955280" y="132588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Core modules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858000" y="1920240"/>
            <a:ext cx="960120" cy="82296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0" y="19659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6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858000" y="23317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User personas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7955280" y="1920240"/>
            <a:ext cx="960120" cy="822960"/>
          </a:xfrm>
          <a:prstGeom prst="rect">
            <a:avLst>
              <a:gd name="adj" fmla="val 6667"/>
            </a:avLst>
          </a:prstGeom>
          <a:solidFill>
            <a:srgbClr val="1A2E4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1965960"/>
            <a:ext cx="960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Local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955280" y="233172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AI inference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GRC Fragmentation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CHALLENGE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Most enterprise security programs operate with disconnected tools across SecOps and compliance — creating visibility gaps that cost organizations during audits, regulatory reviews, and incident response.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7432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64008" cy="1280160"/>
          </a:xfrm>
          <a:prstGeom prst="rect">
            <a:avLst/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2336" y="1819656"/>
            <a:ext cx="329184" cy="329184"/>
          </a:xfrm>
          <a:prstGeom prst="rect">
            <a:avLst>
              <a:gd name="adj" fmla="val 11111"/>
            </a:avLst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85623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4672" y="178308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Disconnected SecOps &amp; compliance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02336" y="2194560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Security findings live in SIEMs. Compliance lives in spreadsheets. Neither feeds the other consistently.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182112" y="1691640"/>
            <a:ext cx="27432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82112" y="1691640"/>
            <a:ext cx="64008" cy="1280160"/>
          </a:xfrm>
          <a:prstGeom prst="rect">
            <a:avLst/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10128" y="1819656"/>
            <a:ext cx="329184" cy="329184"/>
          </a:xfrm>
          <a:prstGeom prst="rect">
            <a:avLst>
              <a:gd name="adj" fmla="val 11111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85623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12464" y="178308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Static, point-in-time auditing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310128" y="2194560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Compliance assessments happen quarterly. Infrastructure changes daily. Exposure windows go undetected.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089904" y="1691640"/>
            <a:ext cx="27432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089904" y="1691640"/>
            <a:ext cx="64008" cy="12801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217920" y="1819656"/>
            <a:ext cx="329184" cy="329184"/>
          </a:xfrm>
          <a:prstGeom prst="rect">
            <a:avLst>
              <a:gd name="adj" fmla="val 11111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856232"/>
            <a:ext cx="256032" cy="25603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620256" y="178308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Weak financial risk visibility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217920" y="2194560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Boards need risk in dollar terms — not CVSS scores. Most platforms don't provide financial exposure estimates.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274320" y="3108960"/>
            <a:ext cx="27432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74320" y="3108960"/>
            <a:ext cx="64008" cy="1280160"/>
          </a:xfrm>
          <a:prstGeom prst="rect">
            <a:avLst/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02336" y="3236976"/>
            <a:ext cx="329184" cy="329184"/>
          </a:xfrm>
          <a:prstGeom prst="rect">
            <a:avLst>
              <a:gd name="adj" fmla="val 11111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273552"/>
            <a:ext cx="256032" cy="25603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804672" y="320040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Cloud AI data residency concerns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02336" y="3611880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Regulated entities cannot send infrastructure data to third-party AI providers without significant legal risk.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3182112" y="3108960"/>
            <a:ext cx="27432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3182112" y="3108960"/>
            <a:ext cx="64008" cy="128016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310128" y="3236976"/>
            <a:ext cx="329184" cy="329184"/>
          </a:xfrm>
          <a:prstGeom prst="rect">
            <a:avLst>
              <a:gd name="adj" fmla="val 11111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273552"/>
            <a:ext cx="256032" cy="256032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712464" y="320040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Manual remediation workflows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3310128" y="3611880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Engineers research fixes ad hoc. Pre-staged runbooks for known vulnerability classes should be standard.</a:t>
            </a:r>
            <a:endParaRPr lang="en-US" sz="900" dirty="0"/>
          </a:p>
        </p:txBody>
      </p:sp>
      <p:sp>
        <p:nvSpPr>
          <p:cNvPr id="37" name="Shape 30"/>
          <p:cNvSpPr/>
          <p:nvPr/>
        </p:nvSpPr>
        <p:spPr>
          <a:xfrm>
            <a:off x="6089904" y="3108960"/>
            <a:ext cx="2743200" cy="1280160"/>
          </a:xfrm>
          <a:prstGeom prst="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6089904" y="3108960"/>
            <a:ext cx="64008" cy="1280160"/>
          </a:xfrm>
          <a:prstGeom prst="rect">
            <a:avLst/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217920" y="3236976"/>
            <a:ext cx="329184" cy="329184"/>
          </a:xfrm>
          <a:prstGeom prst="rect">
            <a:avLst>
              <a:gd name="adj" fmla="val 11111"/>
            </a:avLst>
          </a:prstGeom>
          <a:solidFill>
            <a:srgbClr val="1A2E45"/>
          </a:solidFill>
          <a:ln w="12700">
            <a:solidFill>
              <a:srgbClr val="1A2E45"/>
            </a:solidFill>
            <a:prstDash val="solid"/>
          </a:ln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273552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620256" y="3200400"/>
            <a:ext cx="2157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Multi-framework compliance burden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6217920" y="3611880"/>
            <a:ext cx="2560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Organizations managing NIST, SOC 2, ISO 27001, and PCI-DSS simultaneously duplicate control assessment work.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Platform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Project ONYX is a GRC intelligence platform architected for regulated enterprise environments. It bridges security operations and compliance functions through a unified telemetry-to-remediation pipeline.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737360"/>
            <a:ext cx="1920240" cy="2011680"/>
          </a:xfrm>
          <a:prstGeom prst="rect">
            <a:avLst>
              <a:gd name="adj" fmla="val 4762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548640" cy="548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2514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Telemetry-driven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compliance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450592" y="1737360"/>
            <a:ext cx="1920240" cy="2011680"/>
          </a:xfrm>
          <a:prstGeom prst="rect">
            <a:avLst>
              <a:gd name="adj" fmla="val 4762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6392" y="187452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450592" y="2514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Financial risk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translation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626864" y="1737360"/>
            <a:ext cx="1920240" cy="2011680"/>
          </a:xfrm>
          <a:prstGeom prst="rect">
            <a:avLst>
              <a:gd name="adj" fmla="val 4762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64" y="1874520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26864" y="2514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Local-first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inference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803136" y="1737360"/>
            <a:ext cx="1920240" cy="2011680"/>
          </a:xfrm>
          <a:prstGeom prst="rect">
            <a:avLst>
              <a:gd name="adj" fmla="val 4762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936" y="187452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03136" y="2514600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Unified multi-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framework mapping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36576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TARGET SECTORS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27432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7432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56"/>
                </a:solidFill>
              </a:rPr>
              <a:t>Financial services</a:t>
            </a:r>
            <a:endParaRPr lang="en-US" sz="850" dirty="0"/>
          </a:p>
        </p:txBody>
      </p:sp>
      <p:sp>
        <p:nvSpPr>
          <p:cNvPr id="22" name="Shape 16"/>
          <p:cNvSpPr/>
          <p:nvPr/>
        </p:nvSpPr>
        <p:spPr>
          <a:xfrm>
            <a:off x="201168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201168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56"/>
                </a:solidFill>
              </a:rPr>
              <a:t>Healthcare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374904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74904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56"/>
                </a:solidFill>
              </a:rPr>
              <a:t>Defense &amp; public sector</a:t>
            </a:r>
            <a:endParaRPr lang="en-US" sz="850" dirty="0"/>
          </a:p>
        </p:txBody>
      </p:sp>
      <p:sp>
        <p:nvSpPr>
          <p:cNvPr id="26" name="Shape 20"/>
          <p:cNvSpPr/>
          <p:nvPr/>
        </p:nvSpPr>
        <p:spPr>
          <a:xfrm>
            <a:off x="548640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56"/>
                </a:solidFill>
              </a:rPr>
              <a:t>Cloud infrastructure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7223760" y="4206240"/>
            <a:ext cx="1600200" cy="320040"/>
          </a:xfrm>
          <a:prstGeom prst="rect">
            <a:avLst>
              <a:gd name="adj" fmla="val 14286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7223760" y="42062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F6E56"/>
                </a:solidFill>
              </a:rPr>
              <a:t>Enterprise SaaS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 — Four-Layer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ARCHITECTURE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749808"/>
          </a:xfrm>
          <a:prstGeom prst="rect">
            <a:avLst>
              <a:gd name="adj" fmla="val 8537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16152"/>
            <a:ext cx="329184" cy="329184"/>
          </a:xfrm>
          <a:prstGeom prst="rect">
            <a:avLst>
              <a:gd name="adj" fmla="val 11111"/>
            </a:avLst>
          </a:prstGeom>
          <a:solidFill>
            <a:srgbClr val="9FE1CB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16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6E56"/>
                </a:solidFill>
              </a:rPr>
              <a:t>L1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6E56"/>
                </a:solidFill>
              </a:rPr>
              <a:t>UI Layer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35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Unified dashboard — risk topology, compliance posture, financial exposure, executive reporting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89120" y="1801368"/>
            <a:ext cx="0" cy="128016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headEnd type="none"/>
            <a:tailEnd type="open"/>
          </a:ln>
        </p:spPr>
      </p:sp>
      <p:sp>
        <p:nvSpPr>
          <p:cNvPr id="12" name="Shape 10"/>
          <p:cNvSpPr/>
          <p:nvPr/>
        </p:nvSpPr>
        <p:spPr>
          <a:xfrm>
            <a:off x="274320" y="1947672"/>
            <a:ext cx="8595360" cy="749808"/>
          </a:xfrm>
          <a:prstGeom prst="rect">
            <a:avLst>
              <a:gd name="adj" fmla="val 8537"/>
            </a:avLst>
          </a:prstGeom>
          <a:solidFill>
            <a:srgbClr val="E3F0FA"/>
          </a:solidFill>
          <a:ln w="12700">
            <a:solidFill>
              <a:srgbClr val="93BB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112264"/>
            <a:ext cx="329184" cy="329184"/>
          </a:xfrm>
          <a:prstGeom prst="rect">
            <a:avLst>
              <a:gd name="adj" fmla="val 11111"/>
            </a:avLst>
          </a:prstGeom>
          <a:solidFill>
            <a:srgbClr val="93BBDE"/>
          </a:solidFill>
          <a:ln w="12700">
            <a:solidFill>
              <a:srgbClr val="93BB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1122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6CA8"/>
                </a:solidFill>
              </a:rPr>
              <a:t>L2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8680" y="203911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6CA8"/>
                </a:solidFill>
              </a:rPr>
              <a:t>Orchestration Engine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2331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Coordinates ingestion, module sequencing, AI inference calls, and output delivery — the integration backbone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2697480"/>
            <a:ext cx="0" cy="128016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headEnd type="none"/>
            <a:tailEnd type="open"/>
          </a:ln>
        </p:spPr>
      </p:sp>
      <p:sp>
        <p:nvSpPr>
          <p:cNvPr id="18" name="Shape 16"/>
          <p:cNvSpPr/>
          <p:nvPr/>
        </p:nvSpPr>
        <p:spPr>
          <a:xfrm>
            <a:off x="274320" y="2843784"/>
            <a:ext cx="8595360" cy="749808"/>
          </a:xfrm>
          <a:prstGeom prst="rect">
            <a:avLst>
              <a:gd name="adj" fmla="val 8537"/>
            </a:avLst>
          </a:prstGeom>
          <a:solidFill>
            <a:srgbClr val="FEF3DC"/>
          </a:solidFill>
          <a:ln w="12700">
            <a:solidFill>
              <a:srgbClr val="F0C9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08376"/>
            <a:ext cx="329184" cy="329184"/>
          </a:xfrm>
          <a:prstGeom prst="rect">
            <a:avLst>
              <a:gd name="adj" fmla="val 11111"/>
            </a:avLst>
          </a:prstGeom>
          <a:solidFill>
            <a:srgbClr val="F0C97A"/>
          </a:solidFill>
          <a:ln w="12700">
            <a:solidFill>
              <a:srgbClr val="F0C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97113"/>
                </a:solidFill>
              </a:rPr>
              <a:t>L3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68680" y="29352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7113"/>
                </a:solidFill>
              </a:rPr>
              <a:t>Analytical Processing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68680" y="32278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Risk scoring, financial exposure calculation, compliance mapping logic, sandboxed local AI inference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389120" y="3593592"/>
            <a:ext cx="0" cy="128016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headEnd type="none"/>
            <a:tailEnd type="open"/>
          </a:ln>
        </p:spPr>
      </p:sp>
      <p:sp>
        <p:nvSpPr>
          <p:cNvPr id="24" name="Shape 22"/>
          <p:cNvSpPr/>
          <p:nvPr/>
        </p:nvSpPr>
        <p:spPr>
          <a:xfrm>
            <a:off x="274320" y="3739896"/>
            <a:ext cx="8595360" cy="749808"/>
          </a:xfrm>
          <a:prstGeom prst="rect">
            <a:avLst>
              <a:gd name="adj" fmla="val 8537"/>
            </a:avLst>
          </a:prstGeom>
          <a:solidFill>
            <a:srgbClr val="EEEDFE"/>
          </a:solidFill>
          <a:ln w="12700">
            <a:solidFill>
              <a:srgbClr val="B8B2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904488"/>
            <a:ext cx="329184" cy="329184"/>
          </a:xfrm>
          <a:prstGeom prst="rect">
            <a:avLst>
              <a:gd name="adj" fmla="val 11111"/>
            </a:avLst>
          </a:prstGeom>
          <a:solidFill>
            <a:srgbClr val="B8B2E8"/>
          </a:solidFill>
          <a:ln w="12700">
            <a:solidFill>
              <a:srgbClr val="B8B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904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4EBF"/>
                </a:solidFill>
              </a:rPr>
              <a:t>L4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68680" y="38313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4EBF"/>
                </a:solidFill>
              </a:rPr>
              <a:t>Secure Data Vault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1239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Encrypted log storage, audit trail, framework configuration, remediation runbook repository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663440"/>
            <a:ext cx="8595360" cy="274320"/>
          </a:xfrm>
          <a:prstGeom prst="rect">
            <a:avLst>
              <a:gd name="adj" fmla="val 13333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FE1CB"/>
                </a:solidFill>
              </a:rPr>
              <a:t>Data flow: Infrastructure telemetry → Parsing → Risk scoring → Compliance mapping → AI remediation → Dashboard visualization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Flow — Ingestion to Intelligence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FLOW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82880" y="1645920"/>
            <a:ext cx="1280160" cy="1463040"/>
          </a:xfrm>
          <a:prstGeom prst="rect">
            <a:avLst>
              <a:gd name="adj" fmla="val 5714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830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BCC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" y="2331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Telemetry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Ingestion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1463040" y="2377440"/>
            <a:ext cx="201168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open"/>
          </a:ln>
        </p:spPr>
      </p:sp>
      <p:sp>
        <p:nvSpPr>
          <p:cNvPr id="11" name="Shape 8"/>
          <p:cNvSpPr/>
          <p:nvPr/>
        </p:nvSpPr>
        <p:spPr>
          <a:xfrm>
            <a:off x="1664208" y="1645920"/>
            <a:ext cx="1280160" cy="1463040"/>
          </a:xfrm>
          <a:prstGeom prst="rect">
            <a:avLst>
              <a:gd name="adj" fmla="val 5714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5688" y="178308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64208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BCC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664208" y="2331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Parse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Normalize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2944368" y="2377440"/>
            <a:ext cx="201168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open"/>
          </a:ln>
        </p:spPr>
      </p:sp>
      <p:sp>
        <p:nvSpPr>
          <p:cNvPr id="16" name="Shape 12"/>
          <p:cNvSpPr/>
          <p:nvPr/>
        </p:nvSpPr>
        <p:spPr>
          <a:xfrm>
            <a:off x="3145536" y="1645920"/>
            <a:ext cx="1280160" cy="1463040"/>
          </a:xfrm>
          <a:prstGeom prst="rect">
            <a:avLst>
              <a:gd name="adj" fmla="val 5714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016" y="178308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145536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BCC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3145536" y="2331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Risk Scoring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&amp; Exposure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425696" y="2377440"/>
            <a:ext cx="201168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open"/>
          </a:ln>
        </p:spPr>
      </p:sp>
      <p:sp>
        <p:nvSpPr>
          <p:cNvPr id="21" name="Shape 16"/>
          <p:cNvSpPr/>
          <p:nvPr/>
        </p:nvSpPr>
        <p:spPr>
          <a:xfrm>
            <a:off x="4626864" y="1645920"/>
            <a:ext cx="1280160" cy="1463040"/>
          </a:xfrm>
          <a:prstGeom prst="rect">
            <a:avLst>
              <a:gd name="adj" fmla="val 5714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1783080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626864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BCC"/>
                </a:solidFill>
              </a:rPr>
              <a:t>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626864" y="2331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Compliance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Mapping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907024" y="2377440"/>
            <a:ext cx="201168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open"/>
          </a:ln>
        </p:spPr>
      </p:sp>
      <p:sp>
        <p:nvSpPr>
          <p:cNvPr id="26" name="Shape 20"/>
          <p:cNvSpPr/>
          <p:nvPr/>
        </p:nvSpPr>
        <p:spPr>
          <a:xfrm>
            <a:off x="6108192" y="1645920"/>
            <a:ext cx="1280160" cy="1463040"/>
          </a:xfrm>
          <a:prstGeom prst="rect">
            <a:avLst>
              <a:gd name="adj" fmla="val 5714"/>
            </a:avLst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1783080"/>
            <a:ext cx="457200" cy="4572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08192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BCC"/>
                </a:solidFill>
              </a:rPr>
              <a:t>5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6108192" y="2331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Local AI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Remediation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7388352" y="2377440"/>
            <a:ext cx="201168" cy="0"/>
          </a:xfrm>
          <a:prstGeom prst="line">
            <a:avLst/>
          </a:prstGeom>
          <a:noFill/>
          <a:ln w="19050">
            <a:solidFill>
              <a:srgbClr val="DDE3EC"/>
            </a:solidFill>
            <a:prstDash val="solid"/>
            <a:tailEnd type="open"/>
          </a:ln>
        </p:spPr>
      </p:sp>
      <p:sp>
        <p:nvSpPr>
          <p:cNvPr id="31" name="Shape 24"/>
          <p:cNvSpPr/>
          <p:nvPr/>
        </p:nvSpPr>
        <p:spPr>
          <a:xfrm>
            <a:off x="7589520" y="1645920"/>
            <a:ext cx="1280160" cy="1463040"/>
          </a:xfrm>
          <a:prstGeom prst="rect">
            <a:avLst>
              <a:gd name="adj" fmla="val 5714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0" y="1783080"/>
            <a:ext cx="457200" cy="4572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58952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ABBCC"/>
                </a:solidFill>
              </a:rPr>
              <a:t>6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7589520" y="2331720"/>
            <a:ext cx="1280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Dashboard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Visualization</a:t>
            </a:r>
            <a:endParaRPr lang="en-US" sz="950" dirty="0"/>
          </a:p>
        </p:txBody>
      </p:sp>
      <p:sp>
        <p:nvSpPr>
          <p:cNvPr id="35" name="Text 27"/>
          <p:cNvSpPr/>
          <p:nvPr/>
        </p:nvSpPr>
        <p:spPr>
          <a:xfrm>
            <a:off x="182880" y="32461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Syslog, Windows events, AWS CloudTrail, Azure Monitor, endpoint feeds</a:t>
            </a:r>
            <a:endParaRPr lang="en-US" sz="750" dirty="0"/>
          </a:p>
        </p:txBody>
      </p:sp>
      <p:sp>
        <p:nvSpPr>
          <p:cNvPr id="36" name="Text 28"/>
          <p:cNvSpPr/>
          <p:nvPr/>
        </p:nvSpPr>
        <p:spPr>
          <a:xfrm>
            <a:off x="1664208" y="32461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Common schema normalization, deduplication, classification by severity &amp; asset type</a:t>
            </a:r>
            <a:endParaRPr lang="en-US" sz="750" dirty="0"/>
          </a:p>
        </p:txBody>
      </p:sp>
      <p:sp>
        <p:nvSpPr>
          <p:cNvPr id="37" name="Text 29"/>
          <p:cNvSpPr/>
          <p:nvPr/>
        </p:nvSpPr>
        <p:spPr>
          <a:xfrm>
            <a:off x="3145536" y="32461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Multi-factor scoring: likelihood × asset criticality × threat context + financial impact estimate</a:t>
            </a:r>
            <a:endParaRPr lang="en-US" sz="750" dirty="0"/>
          </a:p>
        </p:txBody>
      </p:sp>
      <p:sp>
        <p:nvSpPr>
          <p:cNvPr id="38" name="Text 30"/>
          <p:cNvSpPr/>
          <p:nvPr/>
        </p:nvSpPr>
        <p:spPr>
          <a:xfrm>
            <a:off x="4626864" y="32461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NIST SP 800-53, SOC 2, ISO 27001, PCI-DSS 4.0, HIPAA — real-time control status update</a:t>
            </a:r>
            <a:endParaRPr lang="en-US" sz="750" dirty="0"/>
          </a:p>
        </p:txBody>
      </p:sp>
      <p:sp>
        <p:nvSpPr>
          <p:cNvPr id="39" name="Text 31"/>
          <p:cNvSpPr/>
          <p:nvPr/>
        </p:nvSpPr>
        <p:spPr>
          <a:xfrm>
            <a:off x="6108192" y="32461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Sandboxed local inference, context-grounded, audit-logged, human-reviewed before commit</a:t>
            </a:r>
            <a:endParaRPr lang="en-US" sz="750" dirty="0"/>
          </a:p>
        </p:txBody>
      </p:sp>
      <p:sp>
        <p:nvSpPr>
          <p:cNvPr id="40" name="Text 32"/>
          <p:cNvSpPr/>
          <p:nvPr/>
        </p:nvSpPr>
        <p:spPr>
          <a:xfrm>
            <a:off x="7589520" y="3246120"/>
            <a:ext cx="12801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Risk topology graph, compliance heatmap, executive exposure summary, remediation queue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Core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MODULES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8595360" cy="704088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70432"/>
            <a:ext cx="384048" cy="384048"/>
          </a:xfrm>
          <a:prstGeom prst="rect">
            <a:avLst>
              <a:gd name="adj" fmla="val 1428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07008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078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Log Ingestion &amp; Parsing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1371600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Multi-source telemetry ingestion with normalization. Supports syslog, cloud audit trails, and endpoint feeds with connector-based extensibility.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74320" y="1810512"/>
            <a:ext cx="8595360" cy="704088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84048" y="1975104"/>
            <a:ext cx="384048" cy="384048"/>
          </a:xfrm>
          <a:prstGeom prst="rect">
            <a:avLst>
              <a:gd name="adj" fmla="val 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01168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8680" y="18836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Risk Scoring &amp; Financial Exposure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217627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Multi-factor risk model with financial impact estimation. Translates CVSS findings into dollar exposure ranges — built for CISO-to-board communication.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274320" y="2615184"/>
            <a:ext cx="8595360" cy="704088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84048" y="2779776"/>
            <a:ext cx="384048" cy="384048"/>
          </a:xfrm>
          <a:prstGeom prst="rect">
            <a:avLst>
              <a:gd name="adj" fmla="val 14286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816352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8680" y="268833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Multi-Framework Compliance Mapping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68680" y="2980944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Unified control library spanning NIST, SOC 2, ISO 27001, PCI-DSS 4.0, and HIPAA. A single finding propagates across all applicable frameworks.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74320" y="3419856"/>
            <a:ext cx="8595360" cy="704088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84048" y="3584448"/>
            <a:ext cx="384048" cy="384048"/>
          </a:xfrm>
          <a:prstGeom prst="rect">
            <a:avLst>
              <a:gd name="adj" fmla="val 14286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621024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68680" y="34930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Remediation &amp; Runbook Generation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68680" y="3785616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Pre-staged runbooks scoped to asset, platform, and control family. AI-assisted for novel findings, with human-in-the-loop validation before commit.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274320" y="4224528"/>
            <a:ext cx="8595360" cy="704088"/>
          </a:xfrm>
          <a:prstGeom prst="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84048" y="4389120"/>
            <a:ext cx="384048" cy="384048"/>
          </a:xfrm>
          <a:prstGeom prst="rect">
            <a:avLst>
              <a:gd name="adj" fmla="val 14286"/>
            </a:avLst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4425696"/>
            <a:ext cx="292608" cy="29260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68680" y="4297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Risk Topology Visualization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868680" y="4590288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Interactive graph view linking assets, risk findings, compliance gaps, and financial exposure. Supports both investigation and executive reporting use cases.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AI Governance &amp; Security Design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GOVERNANCE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3474720" cy="3840480"/>
          </a:xfrm>
          <a:prstGeom prst="rect">
            <a:avLst>
              <a:gd name="adj" fmla="val 2632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517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Local-First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Inference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365760" y="3429000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E1CB"/>
                </a:solidFill>
              </a:rPr>
              <a:t>All AI processing runs within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FE1CB"/>
                </a:solidFill>
              </a:rPr>
              <a:t>the customer security boundary.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FE1CB"/>
                </a:solidFill>
              </a:rPr>
              <a:t>No infrastructure data is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FE1CB"/>
                </a:solidFill>
              </a:rPr>
              <a:t>transmitted to external providers.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977640" y="1051560"/>
            <a:ext cx="4892040" cy="658368"/>
          </a:xfrm>
          <a:prstGeom prst="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087368" y="1197864"/>
            <a:ext cx="347472" cy="347472"/>
          </a:xfrm>
          <a:prstGeom prst="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944" y="1225296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26280" y="11064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Local &amp; offline inference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526280" y="13807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Supports air-gapped and restricted-network deployments. No cloud dependency for AI.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977640" y="1810512"/>
            <a:ext cx="4892040" cy="658368"/>
          </a:xfrm>
          <a:prstGeom prst="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87368" y="1956816"/>
            <a:ext cx="347472" cy="347472"/>
          </a:xfrm>
          <a:prstGeom prst="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3944" y="19842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26280" y="186537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Full audit logging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526280" y="213969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Every AI output logged with model version, input context hash, and timestamp.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3977640" y="2569464"/>
            <a:ext cx="4892040" cy="658368"/>
          </a:xfrm>
          <a:prstGeom prst="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087368" y="2715768"/>
            <a:ext cx="347472" cy="347472"/>
          </a:xfrm>
          <a:prstGeom prst="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274320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526280" y="26243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Sandboxed execution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4526280" y="28986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Resource-limited, output-constrained isolated process. Cannot affect platform state.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977640" y="3328416"/>
            <a:ext cx="4892040" cy="658368"/>
          </a:xfrm>
          <a:prstGeom prst="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087368" y="3474720"/>
            <a:ext cx="347472" cy="347472"/>
          </a:xfrm>
          <a:prstGeom prst="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3944" y="35021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526280" y="3383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Data containment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4526280" y="36576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Sensitive fields masked or tokenized before inference. Model never sees raw PII.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3977640" y="4087368"/>
            <a:ext cx="4892040" cy="658368"/>
          </a:xfrm>
          <a:prstGeom prst="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087368" y="4233672"/>
            <a:ext cx="347472" cy="347472"/>
          </a:xfrm>
          <a:prstGeom prst="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3944" y="426110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4526280" y="41422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Human-in-the-loop review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26280" y="441655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AI-generated runbooks flagged as draft pending analyst approval before commit.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Impact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VALUE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743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56032" y="1051560"/>
            <a:ext cx="2743200" cy="64008"/>
          </a:xfrm>
          <a:prstGeom prst="rect">
            <a:avLst>
              <a:gd name="adj" fmla="val 11428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93192" y="1216152"/>
            <a:ext cx="347472" cy="347472"/>
          </a:xfrm>
          <a:prstGeom prst="rect">
            <a:avLst>
              <a:gd name="adj" fmla="val 13158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243584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117957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Improved audit readiness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3192" y="1645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Continuous compliance mapping replaces periodic manual evidence gathering — structured, timestamped findings on demand.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63824" y="1051560"/>
            <a:ext cx="2743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63824" y="1051560"/>
            <a:ext cx="2743200" cy="64008"/>
          </a:xfrm>
          <a:prstGeom prst="rect">
            <a:avLst>
              <a:gd name="adj" fmla="val 114286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00984" y="1216152"/>
            <a:ext cx="347472" cy="347472"/>
          </a:xfrm>
          <a:prstGeom prst="rect">
            <a:avLst>
              <a:gd name="adj" fmla="val 13158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24358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730752" y="117957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Faster incident response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300984" y="1645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Pre-staged runbooks eliminate the research phase for known vulnerability classes. MTTR reduction through proceduralized remediation.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71616" y="1051560"/>
            <a:ext cx="2743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71616" y="1051560"/>
            <a:ext cx="2743200" cy="64008"/>
          </a:xfrm>
          <a:prstGeom prst="rect">
            <a:avLst>
              <a:gd name="adj" fmla="val 114286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08776" y="1216152"/>
            <a:ext cx="347472" cy="347472"/>
          </a:xfrm>
          <a:prstGeom prst="rect">
            <a:avLst>
              <a:gd name="adj" fmla="val 13158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243584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38544" y="117957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Executive risk visibility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208776" y="164592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Financial exposure translation bridges the gap between security teams and board-level decision-making.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256032" y="2926080"/>
            <a:ext cx="2743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256032" y="2926080"/>
            <a:ext cx="2743200" cy="64008"/>
          </a:xfrm>
          <a:prstGeom prst="rect">
            <a:avLst>
              <a:gd name="adj" fmla="val 114286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93192" y="3090672"/>
            <a:ext cx="347472" cy="347472"/>
          </a:xfrm>
          <a:prstGeom prst="rect">
            <a:avLst>
              <a:gd name="adj" fmla="val 13158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118104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22960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Reduced compliance effort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393192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Unified multi-framework mapping eliminates duplicated control cross-walk work across NIST, SOC 2, ISO 27001, and PCI-DSS.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3163824" y="2926080"/>
            <a:ext cx="2743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163824" y="2926080"/>
            <a:ext cx="2743200" cy="64008"/>
          </a:xfrm>
          <a:prstGeom prst="rect">
            <a:avLst>
              <a:gd name="adj" fmla="val 114286"/>
            </a:avLst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300984" y="3090672"/>
            <a:ext cx="347472" cy="347472"/>
          </a:xfrm>
          <a:prstGeom prst="rect">
            <a:avLst>
              <a:gd name="adj" fmla="val 13158"/>
            </a:avLst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118104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3730752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Effective risk prioritization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3300984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Risk scoring combined with financial exposure enables objective remediation queue ordering — business-risk led, not CVSS-score led.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071616" y="2926080"/>
            <a:ext cx="2743200" cy="1737360"/>
          </a:xfrm>
          <a:prstGeom prst="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071616" y="2926080"/>
            <a:ext cx="2743200" cy="64008"/>
          </a:xfrm>
          <a:prstGeom prst="rect">
            <a:avLst>
              <a:gd name="adj" fmla="val 114286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6208776" y="3090672"/>
            <a:ext cx="347472" cy="347472"/>
          </a:xfrm>
          <a:prstGeom prst="rect">
            <a:avLst>
              <a:gd name="adj" fmla="val 13158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3118104"/>
            <a:ext cx="274320" cy="274320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638544" y="3054096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Regulatory defensibility</a:t>
            </a:r>
            <a:endParaRPr lang="en-US" sz="1000" dirty="0"/>
          </a:p>
        </p:txBody>
      </p:sp>
      <p:sp>
        <p:nvSpPr>
          <p:cNvPr id="41" name="Text 33"/>
          <p:cNvSpPr/>
          <p:nvPr/>
        </p:nvSpPr>
        <p:spPr>
          <a:xfrm>
            <a:off x="6208776" y="3520440"/>
            <a:ext cx="2514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Documented audit trail, AI governance controls, and continuous posture give regulated entities a defensible risk management record.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Differentiators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DIFFERENTIATORS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05840"/>
            <a:ext cx="365760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0" y="1005840"/>
            <a:ext cx="493776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05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Conventional GRC approach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931920" y="100584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FE1CB"/>
                </a:solidFill>
              </a:rPr>
              <a:t>ONYX approach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31920" y="137160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931920" y="1371600"/>
            <a:ext cx="45720" cy="6583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42646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Self-reported control assertions on a survey schedule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041648" y="142646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Telemetry-driven compliance posture derived from live infrastructure events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103120"/>
            <a:ext cx="36576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103120"/>
            <a:ext cx="49377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31920" y="2103120"/>
            <a:ext cx="45720" cy="65836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21579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Quarterly or annual compliance assessments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041648" y="215798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Real-time compliance mapping — control status updates as events occur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283464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31920" y="283464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31920" y="2834640"/>
            <a:ext cx="45720" cy="658368"/>
          </a:xfrm>
          <a:prstGeom prst="rect">
            <a:avLst/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88950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CVSS scores and severity labels for executive reporting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041648" y="288950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Financial exposure translation — risks expressed in dollar impact ranges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36576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31920" y="3566160"/>
            <a:ext cx="49377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31920" y="3566160"/>
            <a:ext cx="45720" cy="658368"/>
          </a:xfrm>
          <a:prstGeom prst="rect">
            <a:avLst/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62102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Cloud-based AI inference with third-party data sharing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041648" y="362102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Local-first AI governance — all inference within the customer security boundary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4297680"/>
            <a:ext cx="36576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0" y="4297680"/>
            <a:ext cx="49377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931920" y="4297680"/>
            <a:ext cx="45720" cy="658368"/>
          </a:xfrm>
          <a:prstGeom prst="rect">
            <a:avLst/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435254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Multiple disconnected point tools across SecOps &amp; GRC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041648" y="4352544"/>
            <a:ext cx="4663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Unified operational dashboard — one interface from raw telemetry to board view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 Personas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PERSONAS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51560"/>
            <a:ext cx="2743200" cy="1792224"/>
          </a:xfrm>
          <a:prstGeom prst="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179576"/>
            <a:ext cx="475488" cy="475488"/>
          </a:xfrm>
          <a:prstGeom prst="rect">
            <a:avLst>
              <a:gd name="adj" fmla="val 50000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3192" y="1179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41832" y="1197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CISO / VP of Security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" y="17282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Challenge: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93192" y="18745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Needs real-time risk posture and board-ready reporting without manually aggregating across tools.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3192" y="2350008"/>
            <a:ext cx="2468880" cy="402336"/>
          </a:xfrm>
          <a:prstGeom prst="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36829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</a:rPr>
              <a:t>Financial exposure dashboard + audit trail for program defensibility.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163824" y="1051560"/>
            <a:ext cx="2743200" cy="1792224"/>
          </a:xfrm>
          <a:prstGeom prst="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179576"/>
            <a:ext cx="475488" cy="475488"/>
          </a:xfrm>
          <a:prstGeom prst="rect">
            <a:avLst>
              <a:gd name="adj" fmla="val 50000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00984" y="1179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9624" y="1197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GRC Analyst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00984" y="17282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Challenge: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300984" y="18745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Spends significant time manually mapping infrastructure findings to compliance control requirements.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300984" y="2350008"/>
            <a:ext cx="2468880" cy="402336"/>
          </a:xfrm>
          <a:prstGeom prst="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64992" y="236829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</a:rPr>
              <a:t>Automated compliance mapping replaces manual cross-walk exercises.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071616" y="1051560"/>
            <a:ext cx="2743200" cy="1792224"/>
          </a:xfrm>
          <a:prstGeom prst="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1179576"/>
            <a:ext cx="475488" cy="475488"/>
          </a:xfrm>
          <a:prstGeom prst="rect">
            <a:avLst>
              <a:gd name="adj" fmla="val 50000"/>
            </a:avLst>
          </a:prstGeom>
          <a:solidFill>
            <a:srgbClr val="B97113"/>
          </a:solidFill>
          <a:ln w="12700">
            <a:solidFill>
              <a:srgbClr val="B9711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08776" y="117957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57416" y="119786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Compliance Officer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08776" y="172821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Challenge: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08776" y="187452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No unified view of control coverage across NIST, SOC 2, ISO 27001, HIPAA, and PCI-DSS simultaneously.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08776" y="2350008"/>
            <a:ext cx="2468880" cy="402336"/>
          </a:xfrm>
          <a:prstGeom prst="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72784" y="236829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</a:rPr>
              <a:t>Unified multi-framework control library with real-time status and gap identification.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56032" y="2971800"/>
            <a:ext cx="2743200" cy="1792224"/>
          </a:xfrm>
          <a:prstGeom prst="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93192" y="3099816"/>
            <a:ext cx="475488" cy="475488"/>
          </a:xfrm>
          <a:prstGeom prst="rect">
            <a:avLst>
              <a:gd name="adj" fmla="val 50000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3192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1832" y="3118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Internal / External Auditor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" y="3648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Challenge: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93192" y="37947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Receives mixed-quality, manually assembled evidence packages difficult to verify against controls.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93192" y="4270248"/>
            <a:ext cx="2468880" cy="402336"/>
          </a:xfrm>
          <a:prstGeom prst="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28853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</a:rPr>
              <a:t>Structured, timestamped, machine-generated evidence traceable to source events.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3163824" y="2971800"/>
            <a:ext cx="2743200" cy="1792224"/>
          </a:xfrm>
          <a:prstGeom prst="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00984" y="3099816"/>
            <a:ext cx="475488" cy="475488"/>
          </a:xfrm>
          <a:prstGeom prst="rect">
            <a:avLst>
              <a:gd name="adj" fmla="val 50000"/>
            </a:avLst>
          </a:prstGeom>
          <a:solidFill>
            <a:srgbClr val="C0492A"/>
          </a:solidFill>
          <a:ln w="12700">
            <a:solidFill>
              <a:srgbClr val="C049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300984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9624" y="3118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Infrastructure Engineer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300984" y="3648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Challenge: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300984" y="37947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Receives vulnerability findings without actionable remediation context — researches fixes ad hoc.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300984" y="4270248"/>
            <a:ext cx="2468880" cy="402336"/>
          </a:xfrm>
          <a:prstGeom prst="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64992" y="428853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</a:rPr>
              <a:t>Pre-staged runbooks scoped to asset, platform, and control — alongside the finding.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6071616" y="2971800"/>
            <a:ext cx="2743200" cy="1792224"/>
          </a:xfrm>
          <a:prstGeom prst="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08776" y="3099816"/>
            <a:ext cx="475488" cy="475488"/>
          </a:xfrm>
          <a:prstGeom prst="rect">
            <a:avLst>
              <a:gd name="adj" fmla="val 50000"/>
            </a:avLst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08776" y="30998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EL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757416" y="3118104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Executive / Board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08776" y="3648456"/>
            <a:ext cx="694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Challenge: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08776" y="3794760"/>
            <a:ext cx="24688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Risk briefings are full of technical severity ratings that don't translate to business decisions.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208776" y="4270248"/>
            <a:ext cx="2468880" cy="402336"/>
          </a:xfrm>
          <a:prstGeom prst="rect">
            <a:avLst>
              <a:gd name="adj" fmla="val 9091"/>
            </a:avLst>
          </a:prstGeom>
          <a:solidFill>
            <a:srgbClr val="E1F5EE"/>
          </a:solidFill>
          <a:ln w="12700">
            <a:solidFill>
              <a:srgbClr val="9FE1C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72784" y="4288536"/>
            <a:ext cx="23591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F6E56"/>
                </a:solidFill>
              </a:rPr>
              <a:t>Dollar-range financial exposure view enables investment decisions grounded in business risk.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949440" y="201168"/>
            <a:ext cx="1828800" cy="329184"/>
          </a:xfrm>
          <a:prstGeom prst="rect">
            <a:avLst>
              <a:gd name="adj" fmla="val 13889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2011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ROADMAP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" y="1024128"/>
            <a:ext cx="2788920" cy="502920"/>
          </a:xfrm>
          <a:prstGeom prst="rect">
            <a:avLst>
              <a:gd name="adj" fmla="val 12727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24128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6032" y="1261872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4F0"/>
                </a:solidFill>
              </a:rPr>
              <a:t>Operational Integrations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56032" y="1536192"/>
            <a:ext cx="2788920" cy="3337560"/>
          </a:xfrm>
          <a:prstGeom prst="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664208"/>
            <a:ext cx="274320" cy="274320"/>
          </a:xfrm>
          <a:prstGeom prst="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68096" y="168249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SIEM connectors (Splunk, Sentinel, QRadar)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20624" y="2414016"/>
            <a:ext cx="274320" cy="274320"/>
          </a:xfrm>
          <a:prstGeom prst="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8096" y="2432304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JIRA / ServiceNow / Azure DevOps integration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0624" y="3163824"/>
            <a:ext cx="274320" cy="274320"/>
          </a:xfrm>
          <a:prstGeom prst="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68096" y="31821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Expanded cloud log ingestion (GCP, AWS Security Hub)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0624" y="3913632"/>
            <a:ext cx="274320" cy="274320"/>
          </a:xfrm>
          <a:prstGeom prst="rect">
            <a:avLst>
              <a:gd name="adj" fmla="val 13333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0624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68096" y="39319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API-based evidence export for audit platforms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18688" y="1024128"/>
            <a:ext cx="2788920" cy="502920"/>
          </a:xfrm>
          <a:prstGeom prst="rect">
            <a:avLst>
              <a:gd name="adj" fmla="val 12727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18688" y="1024128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18688" y="1261872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4F0"/>
                </a:solidFill>
              </a:rPr>
              <a:t>Intelligence &amp; Automation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218688" y="1536192"/>
            <a:ext cx="2788920" cy="3337560"/>
          </a:xfrm>
          <a:prstGeom prst="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83280" y="1664208"/>
            <a:ext cx="274320" cy="274320"/>
          </a:xfrm>
          <a:prstGeom prst="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30752" y="168249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Predictive risk modeling via historical telemetry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83280" y="2414016"/>
            <a:ext cx="274320" cy="274320"/>
          </a:xfrm>
          <a:prstGeom prst="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730752" y="2432304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Automated control testing and validation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383280" y="3163824"/>
            <a:ext cx="274320" cy="274320"/>
          </a:xfrm>
          <a:prstGeom prst="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730752" y="31821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Regulatory update tracking with impact analysis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383280" y="3913632"/>
            <a:ext cx="274320" cy="274320"/>
          </a:xfrm>
          <a:prstGeom prst="rect">
            <a:avLst>
              <a:gd name="adj" fmla="val 13333"/>
            </a:avLst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83280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730752" y="39319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Enhanced financial exposure modeling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81344" y="1024128"/>
            <a:ext cx="2788920" cy="502920"/>
          </a:xfrm>
          <a:prstGeom prst="rect">
            <a:avLst>
              <a:gd name="adj" fmla="val 12727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81344" y="1024128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81344" y="1261872"/>
            <a:ext cx="278892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D0E4F0"/>
                </a:solidFill>
              </a:rPr>
              <a:t>Advanced Telemetry &amp; Scale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181344" y="1536192"/>
            <a:ext cx="2788920" cy="3337560"/>
          </a:xfrm>
          <a:prstGeom prst="rect">
            <a:avLst>
              <a:gd name="adj" fmla="val 1967"/>
            </a:avLst>
          </a:prstGeom>
          <a:solidFill>
            <a:srgbClr val="F1F5F9"/>
          </a:solidFill>
          <a:ln w="12700">
            <a:solidFill>
              <a:srgbClr val="DDE3E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45936" y="1664208"/>
            <a:ext cx="274320" cy="274320"/>
          </a:xfrm>
          <a:prstGeom prst="rect">
            <a:avLst>
              <a:gd name="adj" fmla="val 13333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1664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93408" y="1682496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Network telemetry (NetFlow, DNS, east-west traffic)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345936" y="2414016"/>
            <a:ext cx="274320" cy="274320"/>
          </a:xfrm>
          <a:prstGeom prst="rect">
            <a:avLst>
              <a:gd name="adj" fmla="val 13333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45936" y="2414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693408" y="2432304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Third-party / supply chain risk module (TPRM)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345936" y="3163824"/>
            <a:ext cx="274320" cy="274320"/>
          </a:xfrm>
          <a:prstGeom prst="rect">
            <a:avLst>
              <a:gd name="adj" fmla="val 13333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45936" y="31638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693408" y="3182112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Multi-tenant deployment model for MSSPs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45936" y="3913632"/>
            <a:ext cx="274320" cy="274320"/>
          </a:xfrm>
          <a:prstGeom prst="rect">
            <a:avLst>
              <a:gd name="adj" fmla="val 13333"/>
            </a:avLst>
          </a:prstGeom>
          <a:solidFill>
            <a:srgbClr val="5B4EBF"/>
          </a:solidFill>
          <a:ln w="12700">
            <a:solidFill>
              <a:srgbClr val="5B4EB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45936" y="39136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693408" y="39319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AI model governance and version tracking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Project ONYX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02920" y="20848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E1CB"/>
                </a:solidFill>
              </a:rPr>
              <a:t>Enterprise GRC Intelligence Platform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26060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4748B"/>
                </a:solidFill>
              </a:rPr>
              <a:t>Design Principles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02920" y="2971800"/>
            <a:ext cx="54864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295351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Telemetry-driven compliance — evidence over assertion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2920" y="3355848"/>
            <a:ext cx="54864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33756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Financial risk translation — dollar impact over severity scores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3739896"/>
            <a:ext cx="54864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37216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Local-first AI governance — data residency by design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02920" y="4123944"/>
            <a:ext cx="54864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4105656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Unified orchestration — one workflow from telemetry to board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7920" y="1097280"/>
            <a:ext cx="2651760" cy="3200400"/>
          </a:xfrm>
          <a:prstGeom prst="rect">
            <a:avLst>
              <a:gd name="adj" fmla="val 3448"/>
            </a:avLst>
          </a:prstGeom>
          <a:solidFill>
            <a:srgbClr val="1A2E4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128016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FE1CB"/>
                </a:solidFill>
              </a:rPr>
              <a:t>Open to discussions on: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355080" y="1719072"/>
            <a:ext cx="201168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171907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601968" y="1719072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GRC platform architecture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355080" y="2157984"/>
            <a:ext cx="201168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355080" y="215798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6601968" y="2157984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AI governance in regulated environments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355080" y="2596896"/>
            <a:ext cx="201168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55080" y="259689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6601968" y="2596896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Risk quantification approaches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355080" y="3035808"/>
            <a:ext cx="201168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355080" y="303580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6601968" y="3035808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TPRM and multi-framework compliance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55080" y="3474720"/>
            <a:ext cx="201168" cy="201168"/>
          </a:xfrm>
          <a:prstGeom prst="rect">
            <a:avLst>
              <a:gd name="adj" fmla="val 13636"/>
            </a:avLst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55080" y="347472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✓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6601968" y="3474720"/>
            <a:ext cx="21762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8D8E8"/>
                </a:solidFill>
              </a:rPr>
              <a:t>Enterprise SecOps integration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02920" y="475488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Portfolio-grade architect-designed reference system  ·  GRC &amp; Cybersecurity Architecture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ONYX — Enterprise GRC Intelligence Platform</dc:title>
  <dc:subject>PptxGenJS Presentation</dc:subject>
  <dc:creator>DK – GRC &amp; Cybersecurity Architect</dc:creator>
  <cp:lastModifiedBy>DK – GRC &amp; Cybersecurity Architect</cp:lastModifiedBy>
  <cp:revision>1</cp:revision>
  <dcterms:created xsi:type="dcterms:W3CDTF">2026-05-21T01:51:35Z</dcterms:created>
  <dcterms:modified xsi:type="dcterms:W3CDTF">2026-05-21T01:51:35Z</dcterms:modified>
</cp:coreProperties>
</file>